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3" r:id="rId10"/>
    <p:sldId id="264" r:id="rId11"/>
    <p:sldId id="272" r:id="rId12"/>
    <p:sldId id="265" r:id="rId13"/>
    <p:sldId id="270" r:id="rId14"/>
    <p:sldId id="268" r:id="rId1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166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duru Narasimha" userId="bd3f5b018a89079d" providerId="LiveId" clId="{69F0B7B8-A48D-48FD-8D34-6509FC35AB36}"/>
    <pc:docChg chg="modSld">
      <pc:chgData name="Konduru Narasimha" userId="bd3f5b018a89079d" providerId="LiveId" clId="{69F0B7B8-A48D-48FD-8D34-6509FC35AB36}" dt="2024-03-30T14:42:22.571" v="0" actId="1076"/>
      <pc:docMkLst>
        <pc:docMk/>
      </pc:docMkLst>
      <pc:sldChg chg="modSp mod">
        <pc:chgData name="Konduru Narasimha" userId="bd3f5b018a89079d" providerId="LiveId" clId="{69F0B7B8-A48D-48FD-8D34-6509FC35AB36}" dt="2024-03-30T14:42:22.571" v="0" actId="1076"/>
        <pc:sldMkLst>
          <pc:docMk/>
          <pc:sldMk cId="0" sldId="265"/>
        </pc:sldMkLst>
        <pc:picChg chg="mod">
          <ac:chgData name="Konduru Narasimha" userId="bd3f5b018a89079d" providerId="LiveId" clId="{69F0B7B8-A48D-48FD-8D34-6509FC35AB36}" dt="2024-03-30T14:42:22.571" v="0" actId="1076"/>
          <ac:picMkLst>
            <pc:docMk/>
            <pc:sldMk cId="0" sldId="265"/>
            <ac:picMk id="13" creationId="{FEA2EDFA-59A4-12BC-EED8-7AFB8BE2180E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Employee%20Performance%20Analysis%20using%20Excel%20(2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[Employee Performance Analysis using Excel (2).xlsx]Employee Performance Analysis u!PivotTable1</c:name>
    <c:fmtId val="5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cap="none" spc="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j-ea"/>
                <a:cs typeface="+mj-cs"/>
              </a:defRPr>
            </a:pPr>
            <a:r>
              <a:rPr lang="en-US" sz="2400" b="1" i="0" u="none" strike="noStrike" cap="none" normalizeH="0" baseline="0">
                <a:effectLst/>
              </a:rPr>
              <a:t>Employee Performance Analysis </a:t>
            </a:r>
            <a:endParaRPr lang="en-IN" sz="2400" u="none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cap="none" spc="50" normalizeH="0" baseline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+mj-ea"/>
              <a:cs typeface="+mj-cs"/>
            </a:defRPr>
          </a:pPr>
          <a:endParaRPr lang="en-US"/>
        </a:p>
      </c:txPr>
    </c:title>
    <c:autoTitleDeleted val="0"/>
    <c:pivotFmts>
      <c:pivotFmt>
        <c:idx val="0"/>
      </c:pivotFmt>
      <c:pivotFmt>
        <c:idx val="1"/>
      </c:pivotFmt>
      <c:pivotFmt>
        <c:idx val="2"/>
      </c:pivotFmt>
      <c:pivotFmt>
        <c:idx val="3"/>
      </c:pivotFmt>
      <c:pivotFmt>
        <c:idx val="4"/>
      </c:pivotFmt>
      <c:pivotFmt>
        <c:idx val="5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</c:marker>
        <c:dLbl>
          <c:idx val="0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6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7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8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19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3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4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5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6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7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8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29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1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2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3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4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5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6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7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8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39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  <c:pivotFmt>
        <c:idx val="40"/>
        <c:spPr>
          <a:solidFill>
            <a:schemeClr val="accent1">
              <a:alpha val="70000"/>
            </a:schemeClr>
          </a:solidFill>
          <a:ln>
            <a:noFill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'Employee Performance Analysis u'!$B$4:$B$5</c:f>
              <c:strCache>
                <c:ptCount val="1"/>
                <c:pt idx="0">
                  <c:v>1</c:v>
                </c:pt>
              </c:strCache>
            </c:strRef>
          </c:tx>
          <c:spPr>
            <a:solidFill>
              <a:schemeClr val="accent1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trendline>
            <c:spPr>
              <a:ln w="15875" cap="rnd">
                <a:solidFill>
                  <a:schemeClr val="accent1"/>
                </a:solidFill>
              </a:ln>
              <a:effectLst/>
            </c:spPr>
            <c:trendlineType val="exp"/>
            <c:dispRSqr val="0"/>
            <c:dispEq val="0"/>
          </c:trendline>
          <c:cat>
            <c:strRef>
              <c:f>'Employee Performance Analysis u'!$A$6:$A$16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'Employee Performance Analysis u'!$B$6:$B$16</c:f>
              <c:numCache>
                <c:formatCode>General</c:formatCode>
                <c:ptCount val="10"/>
                <c:pt idx="0">
                  <c:v>4</c:v>
                </c:pt>
                <c:pt idx="1">
                  <c:v>12</c:v>
                </c:pt>
                <c:pt idx="2">
                  <c:v>9</c:v>
                </c:pt>
                <c:pt idx="3">
                  <c:v>7</c:v>
                </c:pt>
                <c:pt idx="4">
                  <c:v>10</c:v>
                </c:pt>
                <c:pt idx="5">
                  <c:v>8</c:v>
                </c:pt>
                <c:pt idx="6">
                  <c:v>11</c:v>
                </c:pt>
                <c:pt idx="7">
                  <c:v>11</c:v>
                </c:pt>
                <c:pt idx="8">
                  <c:v>6</c:v>
                </c:pt>
                <c:pt idx="9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1B0-435C-9AD3-21B28CE90A57}"/>
            </c:ext>
          </c:extLst>
        </c:ser>
        <c:ser>
          <c:idx val="1"/>
          <c:order val="1"/>
          <c:tx>
            <c:strRef>
              <c:f>'Employee Performance Analysis u'!$C$4:$C$5</c:f>
              <c:strCache>
                <c:ptCount val="1"/>
                <c:pt idx="0">
                  <c:v>2</c:v>
                </c:pt>
              </c:strCache>
            </c:strRef>
          </c:tx>
          <c:spPr>
            <a:solidFill>
              <a:schemeClr val="accent2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'Employee Performance Analysis u'!$A$6:$A$16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'Employee Performance Analysis u'!$C$6:$C$16</c:f>
              <c:numCache>
                <c:formatCode>General</c:formatCode>
                <c:ptCount val="10"/>
                <c:pt idx="0">
                  <c:v>15</c:v>
                </c:pt>
                <c:pt idx="1">
                  <c:v>20</c:v>
                </c:pt>
                <c:pt idx="2">
                  <c:v>18</c:v>
                </c:pt>
                <c:pt idx="3">
                  <c:v>18</c:v>
                </c:pt>
                <c:pt idx="4">
                  <c:v>17</c:v>
                </c:pt>
                <c:pt idx="5">
                  <c:v>7</c:v>
                </c:pt>
                <c:pt idx="6">
                  <c:v>13</c:v>
                </c:pt>
                <c:pt idx="7">
                  <c:v>13</c:v>
                </c:pt>
                <c:pt idx="8">
                  <c:v>14</c:v>
                </c:pt>
                <c:pt idx="9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1B0-435C-9AD3-21B28CE90A57}"/>
            </c:ext>
          </c:extLst>
        </c:ser>
        <c:ser>
          <c:idx val="2"/>
          <c:order val="2"/>
          <c:tx>
            <c:strRef>
              <c:f>'Employee Performance Analysis u'!$D$4:$D$5</c:f>
              <c:strCache>
                <c:ptCount val="1"/>
                <c:pt idx="0">
                  <c:v>3</c:v>
                </c:pt>
              </c:strCache>
            </c:strRef>
          </c:tx>
          <c:spPr>
            <a:solidFill>
              <a:schemeClr val="accent3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trendline>
            <c:spPr>
              <a:ln w="15875" cap="rnd">
                <a:solidFill>
                  <a:schemeClr val="accent3"/>
                </a:solidFill>
              </a:ln>
              <a:effectLst/>
            </c:spPr>
            <c:trendlineType val="linear"/>
            <c:dispRSqr val="0"/>
            <c:dispEq val="0"/>
          </c:trendline>
          <c:cat>
            <c:strRef>
              <c:f>'Employee Performance Analysis u'!$A$6:$A$16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'Employee Performance Analysis u'!$D$6:$D$16</c:f>
              <c:numCache>
                <c:formatCode>General</c:formatCode>
                <c:ptCount val="10"/>
                <c:pt idx="0">
                  <c:v>49</c:v>
                </c:pt>
                <c:pt idx="1">
                  <c:v>43</c:v>
                </c:pt>
                <c:pt idx="2">
                  <c:v>53</c:v>
                </c:pt>
                <c:pt idx="3">
                  <c:v>52</c:v>
                </c:pt>
                <c:pt idx="4">
                  <c:v>63</c:v>
                </c:pt>
                <c:pt idx="5">
                  <c:v>46</c:v>
                </c:pt>
                <c:pt idx="6">
                  <c:v>50</c:v>
                </c:pt>
                <c:pt idx="7">
                  <c:v>60</c:v>
                </c:pt>
                <c:pt idx="8">
                  <c:v>57</c:v>
                </c:pt>
                <c:pt idx="9">
                  <c:v>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1B0-435C-9AD3-21B28CE90A57}"/>
            </c:ext>
          </c:extLst>
        </c:ser>
        <c:ser>
          <c:idx val="3"/>
          <c:order val="3"/>
          <c:tx>
            <c:strRef>
              <c:f>'Employee Performance Analysis u'!$E$4:$E$5</c:f>
              <c:strCache>
                <c:ptCount val="1"/>
                <c:pt idx="0">
                  <c:v>4</c:v>
                </c:pt>
              </c:strCache>
            </c:strRef>
          </c:tx>
          <c:spPr>
            <a:solidFill>
              <a:schemeClr val="accent4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'Employee Performance Analysis u'!$A$6:$A$16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'Employee Performance Analysis u'!$E$6:$E$16</c:f>
              <c:numCache>
                <c:formatCode>General</c:formatCode>
                <c:ptCount val="10"/>
                <c:pt idx="0">
                  <c:v>10</c:v>
                </c:pt>
                <c:pt idx="1">
                  <c:v>14</c:v>
                </c:pt>
                <c:pt idx="2">
                  <c:v>13</c:v>
                </c:pt>
                <c:pt idx="3">
                  <c:v>14</c:v>
                </c:pt>
                <c:pt idx="4">
                  <c:v>26</c:v>
                </c:pt>
                <c:pt idx="5">
                  <c:v>15</c:v>
                </c:pt>
                <c:pt idx="6">
                  <c:v>13</c:v>
                </c:pt>
                <c:pt idx="7">
                  <c:v>14</c:v>
                </c:pt>
                <c:pt idx="8">
                  <c:v>10</c:v>
                </c:pt>
                <c:pt idx="9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1B0-435C-9AD3-21B28CE90A57}"/>
            </c:ext>
          </c:extLst>
        </c:ser>
        <c:ser>
          <c:idx val="4"/>
          <c:order val="4"/>
          <c:tx>
            <c:strRef>
              <c:f>'Employee Performance Analysis u'!$F$4:$F$5</c:f>
              <c:strCache>
                <c:ptCount val="1"/>
                <c:pt idx="0">
                  <c:v>5</c:v>
                </c:pt>
              </c:strCache>
            </c:strRef>
          </c:tx>
          <c:spPr>
            <a:solidFill>
              <a:schemeClr val="accent5">
                <a:alpha val="70000"/>
              </a:schemeClr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'Employee Performance Analysis u'!$A$6:$A$16</c:f>
              <c:strCache>
                <c:ptCount val="10"/>
                <c:pt idx="0">
                  <c:v>BPC</c:v>
                </c:pt>
                <c:pt idx="1">
                  <c:v>CCDR</c:v>
                </c:pt>
                <c:pt idx="2">
                  <c:v>EW</c:v>
                </c:pt>
                <c:pt idx="3">
                  <c:v>MSC</c:v>
                </c:pt>
                <c:pt idx="4">
                  <c:v>NEL</c:v>
                </c:pt>
                <c:pt idx="5">
                  <c:v>PL</c:v>
                </c:pt>
                <c:pt idx="6">
                  <c:v>PYZ</c:v>
                </c:pt>
                <c:pt idx="7">
                  <c:v>SVG</c:v>
                </c:pt>
                <c:pt idx="8">
                  <c:v>TNS</c:v>
                </c:pt>
                <c:pt idx="9">
                  <c:v>WBL</c:v>
                </c:pt>
              </c:strCache>
            </c:strRef>
          </c:cat>
          <c:val>
            <c:numRef>
              <c:f>'Employee Performance Analysis u'!$F$6:$F$16</c:f>
              <c:numCache>
                <c:formatCode>General</c:formatCode>
                <c:ptCount val="10"/>
                <c:pt idx="0">
                  <c:v>10</c:v>
                </c:pt>
                <c:pt idx="1">
                  <c:v>6</c:v>
                </c:pt>
                <c:pt idx="2">
                  <c:v>7</c:v>
                </c:pt>
                <c:pt idx="3">
                  <c:v>7</c:v>
                </c:pt>
                <c:pt idx="4">
                  <c:v>10</c:v>
                </c:pt>
                <c:pt idx="5">
                  <c:v>14</c:v>
                </c:pt>
                <c:pt idx="6">
                  <c:v>8</c:v>
                </c:pt>
                <c:pt idx="7">
                  <c:v>8</c:v>
                </c:pt>
                <c:pt idx="8">
                  <c:v>11</c:v>
                </c:pt>
                <c:pt idx="9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B0-435C-9AD3-21B28CE90A5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overlap val="25"/>
        <c:axId val="1257690911"/>
        <c:axId val="1257694239"/>
      </c:barChart>
      <c:catAx>
        <c:axId val="125769091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600" b="1"/>
                  <a:t>Business Unit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1587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none" spc="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694239"/>
        <c:crosses val="autoZero"/>
        <c:auto val="1"/>
        <c:lblAlgn val="ctr"/>
        <c:lblOffset val="100"/>
        <c:noMultiLvlLbl val="0"/>
      </c:catAx>
      <c:valAx>
        <c:axId val="12576942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5000"/>
                  <a:lumOff val="9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cap="all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800" b="1"/>
                  <a:t>Current Employee Rating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cap="all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2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576909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5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587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 cap="none" spc="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>
            <a:alpha val="70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70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 baseline="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ajor">
      <a:schemeClr val="tx1">
        <a:lumMod val="65000"/>
        <a:lumOff val="35000"/>
      </a:schemeClr>
    </cs:fontRef>
    <cs:defRPr sz="1600" b="0" i="0" kern="1200" cap="none" spc="5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587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86612-B127-4CD0-BF15-66D49A7175F7}" type="datetimeFigureOut">
              <a:rPr lang="en-IN" smtClean="0"/>
              <a:t>03-09-2024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F439ED-1E90-4106-847A-8EF19031FE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57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F439ED-1E90-4106-847A-8EF19031FE2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535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377426" y="4825"/>
            <a:ext cx="1218565" cy="6853555"/>
          </a:xfrm>
          <a:custGeom>
            <a:avLst/>
            <a:gdLst/>
            <a:ahLst/>
            <a:cxnLst/>
            <a:rect l="l" t="t" r="r" b="b"/>
            <a:pathLst>
              <a:path w="1218565" h="685355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448612" y="3694896"/>
            <a:ext cx="4743450" cy="3163570"/>
          </a:xfrm>
          <a:custGeom>
            <a:avLst/>
            <a:gdLst/>
            <a:ahLst/>
            <a:cxnLst/>
            <a:rect l="l" t="t" r="r" b="b"/>
            <a:pathLst>
              <a:path w="4743450" h="316357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ln w="9525">
            <a:solidFill>
              <a:srgbClr val="5FCAE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9182100" y="0"/>
            <a:ext cx="3009900" cy="6858000"/>
          </a:xfrm>
          <a:custGeom>
            <a:avLst/>
            <a:gdLst/>
            <a:ahLst/>
            <a:cxnLst/>
            <a:rect l="l" t="t" r="r" b="b"/>
            <a:pathLst>
              <a:path w="3009900" h="68580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6077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9602878" y="0"/>
            <a:ext cx="2589530" cy="6858000"/>
          </a:xfrm>
          <a:custGeom>
            <a:avLst/>
            <a:gdLst/>
            <a:ahLst/>
            <a:cxnLst/>
            <a:rect l="l" t="t" r="r" b="b"/>
            <a:pathLst>
              <a:path w="2589529" h="6858000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8934450" y="3048000"/>
            <a:ext cx="3257550" cy="3810000"/>
          </a:xfrm>
          <a:custGeom>
            <a:avLst/>
            <a:gdLst/>
            <a:ahLst/>
            <a:cxnLst/>
            <a:rect l="l" t="t" r="r" b="b"/>
            <a:pathLst>
              <a:path w="3257550" h="381000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337930" y="0"/>
            <a:ext cx="2854325" cy="6858000"/>
          </a:xfrm>
          <a:custGeom>
            <a:avLst/>
            <a:gdLst/>
            <a:ahLst/>
            <a:cxnLst/>
            <a:rect l="l" t="t" r="r" b="b"/>
            <a:pathLst>
              <a:path w="2854325" h="6858000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5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10896600" y="0"/>
            <a:ext cx="1295400" cy="6858000"/>
          </a:xfrm>
          <a:custGeom>
            <a:avLst/>
            <a:gdLst/>
            <a:ahLst/>
            <a:cxnLst/>
            <a:rect l="l" t="t" r="r" b="b"/>
            <a:pathLst>
              <a:path w="1295400" h="68580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10936247" y="0"/>
            <a:ext cx="1256030" cy="6858000"/>
          </a:xfrm>
          <a:custGeom>
            <a:avLst/>
            <a:gdLst/>
            <a:ahLst/>
            <a:cxnLst/>
            <a:rect l="l" t="t" r="r" b="b"/>
            <a:pathLst>
              <a:path w="1256029" h="6858000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10372725" y="3590925"/>
            <a:ext cx="1819275" cy="3267075"/>
          </a:xfrm>
          <a:custGeom>
            <a:avLst/>
            <a:gdLst/>
            <a:ahLst/>
            <a:cxnLst/>
            <a:rect l="l" t="t" r="r" b="b"/>
            <a:pathLst>
              <a:path w="1819275" h="32670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881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rgbClr val="2D936B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‹#›</a:t>
            </a:fld>
            <a:endParaRPr spc="1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3" name="object 3"/>
            <p:cNvSpPr/>
            <p:nvPr/>
          </p:nvSpPr>
          <p:spPr>
            <a:xfrm>
              <a:off x="742950" y="1381125"/>
              <a:ext cx="1228725" cy="1057275"/>
            </a:xfrm>
            <a:custGeom>
              <a:avLst/>
              <a:gdLst/>
              <a:ahLst/>
              <a:cxnLst/>
              <a:rect l="l" t="t" r="r" b="b"/>
              <a:pathLst>
                <a:path w="1228725" h="105727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838325" y="1104900"/>
              <a:ext cx="647700" cy="561975"/>
            </a:xfrm>
            <a:custGeom>
              <a:avLst/>
              <a:gdLst/>
              <a:ahLst/>
              <a:cxnLst/>
              <a:rect l="l" t="t" r="r" b="b"/>
              <a:pathLst>
                <a:path w="647700" h="561975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3752850" y="1190625"/>
            <a:ext cx="1666875" cy="1438275"/>
          </a:xfrm>
          <a:custGeom>
            <a:avLst/>
            <a:gdLst/>
            <a:ahLst/>
            <a:cxnLst/>
            <a:rect l="l" t="t" r="r" b="b"/>
            <a:pathLst>
              <a:path w="1666875" h="14382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00475" y="5229225"/>
            <a:ext cx="723900" cy="619125"/>
          </a:xfrm>
          <a:custGeom>
            <a:avLst/>
            <a:gdLst/>
            <a:ahLst/>
            <a:cxnLst/>
            <a:rect l="l" t="t" r="r" b="b"/>
            <a:pathLst>
              <a:path w="723900" h="619125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ctrTitle"/>
          </p:nvPr>
        </p:nvSpPr>
        <p:spPr>
          <a:xfrm>
            <a:off x="-2286000" y="609600"/>
            <a:ext cx="11504548" cy="50911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213735" algn="l">
              <a:spcBef>
                <a:spcPts val="130"/>
              </a:spcBef>
            </a:pPr>
            <a:r>
              <a:rPr lang="en-US" b="1" dirty="0">
                <a:solidFill>
                  <a:srgbClr val="0F0F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Data Analysis using Excel</a:t>
            </a:r>
            <a:r>
              <a:rPr lang="en-US" b="1" i="0" dirty="0">
                <a:solidFill>
                  <a:srgbClr val="0F0F0F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pc="15" dirty="0"/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1</a:t>
            </a:fld>
            <a:endParaRPr spc="1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5ADE35-C35B-07C1-F5AA-C33B3DDB802E}"/>
              </a:ext>
            </a:extLst>
          </p:cNvPr>
          <p:cNvSpPr txBox="1"/>
          <p:nvPr/>
        </p:nvSpPr>
        <p:spPr>
          <a:xfrm>
            <a:off x="876299" y="2823150"/>
            <a:ext cx="895350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STUDENT NAME</a:t>
            </a:r>
            <a:r>
              <a:rPr lang="en-US" sz="2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 ATHAVAN S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REGISTER NO</a:t>
            </a:r>
            <a:r>
              <a:rPr lang="en-US" sz="2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</a:t>
            </a:r>
            <a:r>
              <a:rPr lang="en-IN" sz="2000" b="1" dirty="0"/>
              <a:t>312219201</a:t>
            </a:r>
            <a:r>
              <a:rPr lang="en-US" sz="2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DEPARTMENT</a:t>
            </a:r>
            <a:r>
              <a:rPr lang="en-US" sz="2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B.COM (accounting and finance)</a:t>
            </a:r>
          </a:p>
          <a:p>
            <a:pPr algn="just"/>
            <a:r>
              <a:rPr lang="en-US" sz="24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COLLEGE</a:t>
            </a:r>
            <a:r>
              <a:rPr lang="en-US" sz="2000" b="1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: GURU SREE SHANTIVIJAI JAIN ARTS AND SCIENCE COLLEGE  NALLUR 1707</a:t>
            </a:r>
          </a:p>
          <a:p>
            <a:pPr algn="just"/>
            <a:endParaRPr lang="en-US" sz="2000" b="1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  <a:p>
            <a:pPr algn="just"/>
            <a:r>
              <a:rPr lang="en-US" sz="2000" b="1" dirty="0">
                <a:latin typeface="Times New Roman" panose="02020603050405020304" pitchFamily="18" charset="0"/>
                <a:ea typeface="Microsoft JhengHei" panose="020B0604030504040204" pitchFamily="34" charset="-120"/>
                <a:cs typeface="Times New Roman" panose="02020603050405020304" pitchFamily="18" charset="0"/>
              </a:rPr>
              <a:t>           </a:t>
            </a:r>
            <a:endParaRPr lang="en-IN" sz="2000" b="1" dirty="0">
              <a:latin typeface="Times New Roman" panose="02020603050405020304" pitchFamily="18" charset="0"/>
              <a:ea typeface="Microsoft JhengHei" panose="020B0604030504040204" pitchFamily="34" charset="-12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467687" y="1517416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39096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5" dirty="0"/>
              <a:t>PROJECT</a:t>
            </a:r>
            <a:r>
              <a:rPr sz="4250" spc="-85" dirty="0"/>
              <a:t> </a:t>
            </a:r>
            <a:r>
              <a:rPr sz="4250" spc="25" dirty="0"/>
              <a:t>TITLE</a:t>
            </a:r>
            <a:endParaRPr sz="4250" dirty="0"/>
          </a:p>
        </p:txBody>
      </p:sp>
      <p:grpSp>
        <p:nvGrpSpPr>
          <p:cNvPr id="18" name="object 18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</p:grp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2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91EEC8-E83B-8506-163B-F39E906CCC0A}"/>
              </a:ext>
            </a:extLst>
          </p:cNvPr>
          <p:cNvSpPr txBox="1"/>
          <p:nvPr/>
        </p:nvSpPr>
        <p:spPr>
          <a:xfrm>
            <a:off x="-266977" y="3086619"/>
            <a:ext cx="1063935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0F0F0F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Employee Performance Analysis using Excel</a:t>
            </a:r>
            <a:endParaRPr lang="en-IN" sz="2800" dirty="0">
              <a:solidFill>
                <a:srgbClr val="7030A0"/>
              </a:solidFill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  <p:sp>
        <p:nvSpPr>
          <p:cNvPr id="21" name="AutoShape 2" descr="blob:https://web.whatsapp.com/86f56f85-85b1-4197-8d4c-59f08a07b4c8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2632" y="793932"/>
            <a:ext cx="1832583" cy="1832583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491" y="2362784"/>
            <a:ext cx="317019" cy="32311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153" y="1062039"/>
            <a:ext cx="317019" cy="32311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2373" y="4133342"/>
            <a:ext cx="457240" cy="457240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8379" y="5039459"/>
            <a:ext cx="317019" cy="3231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76200" y="28579"/>
            <a:ext cx="12481713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/>
          <p:cNvGrpSpPr/>
          <p:nvPr/>
        </p:nvGrpSpPr>
        <p:grpSpPr>
          <a:xfrm>
            <a:off x="7443849" y="0"/>
            <a:ext cx="4752975" cy="6863080"/>
            <a:chOff x="7443849" y="0"/>
            <a:chExt cx="4752975" cy="6863080"/>
          </a:xfrm>
        </p:grpSpPr>
        <p:sp>
          <p:nvSpPr>
            <p:cNvPr id="4" name="object 4"/>
            <p:cNvSpPr/>
            <p:nvPr/>
          </p:nvSpPr>
          <p:spPr>
            <a:xfrm>
              <a:off x="9377426" y="4825"/>
              <a:ext cx="1218565" cy="6853555"/>
            </a:xfrm>
            <a:custGeom>
              <a:avLst/>
              <a:gdLst/>
              <a:ahLst/>
              <a:cxnLst/>
              <a:rect l="l" t="t" r="r" b="b"/>
              <a:pathLst>
                <a:path w="1218565" h="685355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48612" y="3694896"/>
              <a:ext cx="4743450" cy="3163570"/>
            </a:xfrm>
            <a:custGeom>
              <a:avLst/>
              <a:gdLst/>
              <a:ahLst/>
              <a:cxnLst/>
              <a:rect l="l" t="t" r="r" b="b"/>
              <a:pathLst>
                <a:path w="4743450" h="316357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ln w="9525">
              <a:solidFill>
                <a:srgbClr val="5FCAE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182100" y="0"/>
              <a:ext cx="3009900" cy="6858000"/>
            </a:xfrm>
            <a:custGeom>
              <a:avLst/>
              <a:gdLst/>
              <a:ahLst/>
              <a:cxnLst/>
              <a:rect l="l" t="t" r="r" b="b"/>
              <a:pathLst>
                <a:path w="3009900" h="68580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607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602878" y="0"/>
              <a:ext cx="2589530" cy="6858000"/>
            </a:xfrm>
            <a:custGeom>
              <a:avLst/>
              <a:gdLst/>
              <a:ahLst/>
              <a:cxnLst/>
              <a:rect l="l" t="t" r="r" b="b"/>
              <a:pathLst>
                <a:path w="2589529" h="6858000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8934450" y="3048000"/>
              <a:ext cx="3257550" cy="3810000"/>
            </a:xfrm>
            <a:custGeom>
              <a:avLst/>
              <a:gdLst/>
              <a:ahLst/>
              <a:cxnLst/>
              <a:rect l="l" t="t" r="r" b="b"/>
              <a:pathLst>
                <a:path w="3257550" h="381000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337930" y="0"/>
              <a:ext cx="2854325" cy="6858000"/>
            </a:xfrm>
            <a:custGeom>
              <a:avLst/>
              <a:gdLst/>
              <a:ahLst/>
              <a:cxnLst/>
              <a:rect l="l" t="t" r="r" b="b"/>
              <a:pathLst>
                <a:path w="2854325" h="6858000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5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0896600" y="0"/>
              <a:ext cx="1295400" cy="6858000"/>
            </a:xfrm>
            <a:custGeom>
              <a:avLst/>
              <a:gdLst/>
              <a:ahLst/>
              <a:cxnLst/>
              <a:rect l="l" t="t" r="r" b="b"/>
              <a:pathLst>
                <a:path w="1295400" h="68580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0936247" y="0"/>
              <a:ext cx="1256030" cy="6858000"/>
            </a:xfrm>
            <a:custGeom>
              <a:avLst/>
              <a:gdLst/>
              <a:ahLst/>
              <a:cxnLst/>
              <a:rect l="l" t="t" r="r" b="b"/>
              <a:pathLst>
                <a:path w="1256029" h="6858000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372725" y="3590925"/>
              <a:ext cx="1819275" cy="3267075"/>
            </a:xfrm>
            <a:custGeom>
              <a:avLst/>
              <a:gdLst/>
              <a:ahLst/>
              <a:cxnLst/>
              <a:rect l="l" t="t" r="r" b="b"/>
              <a:pathLst>
                <a:path w="1819275" h="32670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881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/>
          <p:nvPr/>
        </p:nvSpPr>
        <p:spPr>
          <a:xfrm>
            <a:off x="0" y="4010025"/>
            <a:ext cx="447675" cy="2847975"/>
          </a:xfrm>
          <a:custGeom>
            <a:avLst/>
            <a:gdLst/>
            <a:ahLst/>
            <a:cxnLst/>
            <a:rect l="l" t="t" r="r" b="b"/>
            <a:pathLst>
              <a:path w="447675" h="28479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7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62825" y="447675"/>
            <a:ext cx="361950" cy="361950"/>
          </a:xfrm>
          <a:custGeom>
            <a:avLst/>
            <a:gdLst/>
            <a:ahLst/>
            <a:cxnLst/>
            <a:rect l="l" t="t" r="r" b="b"/>
            <a:pathLst>
              <a:path w="361950" h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1010900" y="5610225"/>
            <a:ext cx="647700" cy="647700"/>
          </a:xfrm>
          <a:custGeom>
            <a:avLst/>
            <a:gdLst/>
            <a:ahLst/>
            <a:cxnLst/>
            <a:rect l="l" t="t" r="r" b="b"/>
            <a:pathLst>
              <a:path w="647700" h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87050" y="6134100"/>
            <a:ext cx="247650" cy="24765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47625" y="3819523"/>
            <a:ext cx="4124325" cy="3009898"/>
            <a:chOff x="47625" y="3819523"/>
            <a:chExt cx="4124325" cy="3009898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</p:spPr>
        </p:pic>
      </p:grp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25" dirty="0"/>
              <a:t>A</a:t>
            </a:r>
            <a:r>
              <a:rPr spc="-5" dirty="0"/>
              <a:t>G</a:t>
            </a:r>
            <a:r>
              <a:rPr spc="-35" dirty="0"/>
              <a:t>E</a:t>
            </a:r>
            <a:r>
              <a:rPr spc="15" dirty="0"/>
              <a:t>N</a:t>
            </a:r>
            <a:r>
              <a:rPr dirty="0"/>
              <a:t>DA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3</a:t>
            </a:fld>
            <a:endParaRPr spc="1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827FA3-A9D4-0FE5-45BE-664C8C920E82}"/>
              </a:ext>
            </a:extLst>
          </p:cNvPr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sz="2800" b="0" i="0" dirty="0">
              <a:solidFill>
                <a:srgbClr val="0D0D0D"/>
              </a:solidFill>
              <a:effectLst/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tencil" panose="040409050D0802020404" pitchFamily="82" charset="0"/>
                <a:cs typeface="Times New Roman" panose="02020603050405020304" pitchFamily="18" charset="0"/>
              </a:rPr>
              <a:t>Problem Statement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tencil" panose="040409050D0802020404" pitchFamily="82" charset="0"/>
                <a:cs typeface="Times New Roman" panose="02020603050405020304" pitchFamily="18" charset="0"/>
              </a:rPr>
              <a:t>Project Overview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tencil" panose="040409050D0802020404" pitchFamily="82" charset="0"/>
                <a:cs typeface="Times New Roman" panose="02020603050405020304" pitchFamily="18" charset="0"/>
              </a:rPr>
              <a:t>End Users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tencil" panose="040409050D0802020404" pitchFamily="82" charset="0"/>
                <a:cs typeface="Times New Roman" panose="02020603050405020304" pitchFamily="18" charset="0"/>
              </a:rPr>
              <a:t>Our Solution and Proposition</a:t>
            </a:r>
          </a:p>
          <a:p>
            <a:pPr algn="l">
              <a:buFont typeface="+mj-lt"/>
              <a:buAutoNum type="arabicPeriod"/>
            </a:pPr>
            <a:r>
              <a:rPr lang="en-US" sz="2800" dirty="0">
                <a:solidFill>
                  <a:srgbClr val="0D0D0D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Dataset Description</a:t>
            </a:r>
            <a:endParaRPr lang="en-US" sz="2800" b="0" i="0" dirty="0">
              <a:solidFill>
                <a:srgbClr val="0D0D0D"/>
              </a:solidFill>
              <a:effectLst/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tencil" panose="040409050D0802020404" pitchFamily="82" charset="0"/>
                <a:cs typeface="Times New Roman" panose="02020603050405020304" pitchFamily="18" charset="0"/>
              </a:rPr>
              <a:t>Modelling Approach</a:t>
            </a: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tencil" panose="040409050D0802020404" pitchFamily="82" charset="0"/>
                <a:cs typeface="Times New Roman" panose="02020603050405020304" pitchFamily="18" charset="0"/>
              </a:rPr>
              <a:t>Results and </a:t>
            </a:r>
            <a:r>
              <a:rPr lang="en-US" sz="2800" dirty="0">
                <a:solidFill>
                  <a:srgbClr val="0D0D0D"/>
                </a:solidFill>
                <a:latin typeface="Stencil" panose="040409050D0802020404" pitchFamily="82" charset="0"/>
                <a:cs typeface="Times New Roman" panose="02020603050405020304" pitchFamily="18" charset="0"/>
              </a:rPr>
              <a:t>Discussion</a:t>
            </a:r>
            <a:endParaRPr lang="en-US" sz="2800" b="0" i="0" dirty="0">
              <a:solidFill>
                <a:srgbClr val="0D0D0D"/>
              </a:solidFill>
              <a:effectLst/>
              <a:latin typeface="Stencil" panose="040409050D0802020404" pitchFamily="82" charset="0"/>
              <a:cs typeface="Times New Roman" panose="02020603050405020304" pitchFamily="18" charset="0"/>
            </a:endParaRPr>
          </a:p>
          <a:p>
            <a:pPr algn="l">
              <a:buFont typeface="+mj-lt"/>
              <a:buAutoNum type="arabicPeriod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Stencil" panose="040409050D0802020404" pitchFamily="82" charset="0"/>
                <a:cs typeface="Times New Roman" panose="02020603050405020304" pitchFamily="18" charset="0"/>
              </a:rPr>
              <a:t>Conclusion</a:t>
            </a:r>
          </a:p>
          <a:p>
            <a:endParaRPr lang="en-IN" sz="2800" dirty="0">
              <a:latin typeface="Stencil" panose="040409050D0802020404" pitchFamily="82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91475" y="2933700"/>
            <a:ext cx="2762250" cy="3257550"/>
            <a:chOff x="7991475" y="2933700"/>
            <a:chExt cx="2762250" cy="325755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91475" y="2933700"/>
              <a:ext cx="2762250" cy="3257550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34072" y="575055"/>
            <a:ext cx="563689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727960" algn="l"/>
              </a:tabLst>
            </a:pPr>
            <a:r>
              <a:rPr sz="4250" spc="-20" dirty="0"/>
              <a:t>P</a:t>
            </a:r>
            <a:r>
              <a:rPr sz="4250" spc="15" dirty="0"/>
              <a:t>ROB</a:t>
            </a:r>
            <a:r>
              <a:rPr sz="4250" spc="55" dirty="0"/>
              <a:t>L</a:t>
            </a:r>
            <a:r>
              <a:rPr sz="4250" spc="-20" dirty="0"/>
              <a:t>E</a:t>
            </a:r>
            <a:r>
              <a:rPr sz="4250" spc="20" dirty="0"/>
              <a:t>M</a:t>
            </a:r>
            <a:r>
              <a:rPr sz="4250" dirty="0"/>
              <a:t>	</a:t>
            </a:r>
            <a:r>
              <a:rPr sz="4250" spc="10" dirty="0"/>
              <a:t>S</a:t>
            </a:r>
            <a:r>
              <a:rPr sz="4250" spc="-370" dirty="0"/>
              <a:t>T</a:t>
            </a:r>
            <a:r>
              <a:rPr sz="4250" spc="-375" dirty="0"/>
              <a:t>A</a:t>
            </a:r>
            <a:r>
              <a:rPr sz="4250" spc="15" dirty="0"/>
              <a:t>T</a:t>
            </a:r>
            <a:r>
              <a:rPr sz="4250" spc="-10" dirty="0"/>
              <a:t>E</a:t>
            </a:r>
            <a:r>
              <a:rPr sz="4250" spc="-20" dirty="0"/>
              <a:t>ME</a:t>
            </a:r>
            <a:r>
              <a:rPr sz="4250" spc="10" dirty="0"/>
              <a:t>NT</a:t>
            </a:r>
            <a:endParaRPr sz="4250" dirty="0"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4</a:t>
            </a:fld>
            <a:endParaRPr spc="10" dirty="0"/>
          </a:p>
        </p:txBody>
      </p:sp>
      <p:sp>
        <p:nvSpPr>
          <p:cNvPr id="9" name="Rectangle 8"/>
          <p:cNvSpPr/>
          <p:nvPr/>
        </p:nvSpPr>
        <p:spPr>
          <a:xfrm>
            <a:off x="609600" y="1861245"/>
            <a:ext cx="7381875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attendance and absenteeism</a:t>
            </a:r>
          </a:p>
          <a:p>
            <a:pPr marL="342900" indent="-342900">
              <a:buAutoNum type="arabicPeriod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sales performance or revenue generation</a:t>
            </a:r>
          </a:p>
          <a:p>
            <a:pPr marL="342900" indent="-342900">
              <a:buAutoNum type="arabicPeriod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task completion rates or productivity</a:t>
            </a:r>
          </a:p>
          <a:p>
            <a:pPr marL="342900" indent="-342900">
              <a:buAutoNum type="arabicPeriod"/>
            </a:pPr>
            <a:r>
              <a:rPr lang="en-GB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 satisfaction ratings or feedback</a:t>
            </a:r>
          </a:p>
          <a:p>
            <a:pPr marL="342900" indent="-342900">
              <a:buAutoNum type="arabicPeriod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across different departments or teams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144000" y="2933701"/>
            <a:ext cx="3533775" cy="3810000"/>
            <a:chOff x="8658225" y="2647950"/>
            <a:chExt cx="3533775" cy="3810000"/>
          </a:xfrm>
        </p:grpSpPr>
        <p:sp>
          <p:nvSpPr>
            <p:cNvPr id="3" name="object 3"/>
            <p:cNvSpPr/>
            <p:nvPr/>
          </p:nvSpPr>
          <p:spPr>
            <a:xfrm>
              <a:off x="9353550" y="53625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9353550" y="5895975"/>
              <a:ext cx="180975" cy="180975"/>
            </a:xfrm>
            <a:custGeom>
              <a:avLst/>
              <a:gdLst/>
              <a:ahLst/>
              <a:cxnLst/>
              <a:rect l="l" t="t" r="r" b="b"/>
              <a:pathLst>
                <a:path w="180975" h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7239000" y="1443059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39775" y="829627"/>
            <a:ext cx="5263515" cy="6781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642870" algn="l"/>
              </a:tabLst>
            </a:pPr>
            <a:r>
              <a:rPr sz="4250" spc="5" dirty="0"/>
              <a:t>PROJECT	</a:t>
            </a:r>
            <a:r>
              <a:rPr sz="4250" spc="-20" dirty="0"/>
              <a:t>OVERVIEW</a:t>
            </a:r>
            <a:endParaRPr sz="4250"/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5</a:t>
            </a:fld>
            <a:endParaRPr spc="1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050B57B-77CA-84FA-9910-3F41C17BBB48}"/>
              </a:ext>
            </a:extLst>
          </p:cNvPr>
          <p:cNvSpPr txBox="1"/>
          <p:nvPr/>
        </p:nvSpPr>
        <p:spPr>
          <a:xfrm>
            <a:off x="739774" y="2048648"/>
            <a:ext cx="84042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Collect and organize employee performance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 up an Excel dashboard to visualize performance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formulas and charts to </a:t>
            </a:r>
            <a:r>
              <a:rPr lang="en-GB" sz="2400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GB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compare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areas for improvement and track progress over time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9773" y="3937933"/>
            <a:ext cx="9099551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Excel workbook with a user-friendly dashboard2. Clear and concise performance metrics and charts3. Formulas and calculations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data4. Recommendations for future performance improvement initiatives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845601"/>
            <a:ext cx="317019" cy="32311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6106" y="5399965"/>
            <a:ext cx="317019" cy="3231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814512" y="457200"/>
            <a:ext cx="501459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spc="25" dirty="0"/>
              <a:t>W</a:t>
            </a:r>
            <a:r>
              <a:rPr sz="3200" spc="-20" dirty="0"/>
              <a:t>H</a:t>
            </a:r>
            <a:r>
              <a:rPr sz="3200" spc="20" dirty="0"/>
              <a:t>O</a:t>
            </a:r>
            <a:r>
              <a:rPr sz="3200" spc="-235" dirty="0"/>
              <a:t> </a:t>
            </a:r>
            <a:r>
              <a:rPr sz="3200" spc="-10" dirty="0"/>
              <a:t>AR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10" dirty="0"/>
              <a:t>T</a:t>
            </a:r>
            <a:r>
              <a:rPr sz="3200" spc="-15" dirty="0"/>
              <a:t>H</a:t>
            </a:r>
            <a:r>
              <a:rPr sz="3200" spc="15" dirty="0"/>
              <a:t>E</a:t>
            </a:r>
            <a:r>
              <a:rPr sz="3200" spc="-35" dirty="0"/>
              <a:t> </a:t>
            </a:r>
            <a:r>
              <a:rPr sz="3200" spc="-20" dirty="0"/>
              <a:t>E</a:t>
            </a:r>
            <a:r>
              <a:rPr sz="3200" spc="30" dirty="0"/>
              <a:t>N</a:t>
            </a:r>
            <a:r>
              <a:rPr sz="3200" spc="15" dirty="0"/>
              <a:t>D</a:t>
            </a:r>
            <a:r>
              <a:rPr sz="3200" spc="-45" dirty="0"/>
              <a:t> </a:t>
            </a:r>
            <a:r>
              <a:rPr sz="3200" dirty="0"/>
              <a:t>U</a:t>
            </a:r>
            <a:r>
              <a:rPr sz="3200" spc="10" dirty="0"/>
              <a:t>S</a:t>
            </a:r>
            <a:r>
              <a:rPr sz="3200" spc="-25" dirty="0"/>
              <a:t>E</a:t>
            </a:r>
            <a:r>
              <a:rPr sz="3200" spc="-10" dirty="0"/>
              <a:t>R</a:t>
            </a:r>
            <a:r>
              <a:rPr sz="3200" spc="5" dirty="0"/>
              <a:t>S?</a:t>
            </a:r>
            <a:endParaRPr sz="3200" dirty="0"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6</a:t>
            </a:fld>
            <a:endParaRPr spc="10" dirty="0"/>
          </a:p>
        </p:txBody>
      </p:sp>
      <p:sp>
        <p:nvSpPr>
          <p:cNvPr id="7" name="Rectangle 6"/>
          <p:cNvSpPr/>
          <p:nvPr/>
        </p:nvSpPr>
        <p:spPr>
          <a:xfrm>
            <a:off x="1600200" y="1447800"/>
            <a:ext cx="6019800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 Generalists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track employee performance, identify training needs, and inform talent management decisions.</a:t>
            </a:r>
          </a:p>
          <a:p>
            <a:pPr marL="342900" indent="-342900"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Managers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monitor team performance, set goals, and provide targeted feedback to team members.</a:t>
            </a:r>
          </a:p>
          <a:p>
            <a:pPr marL="342900" indent="-342900"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Heads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evaluate departmental performance, make informed decisions, and optimize resource allocation.</a:t>
            </a:r>
          </a:p>
          <a:p>
            <a:pPr marL="342900" indent="-342900"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Analysts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performance trends, identify areas for improvement, and recommend data-driven solutions.</a:t>
            </a:r>
          </a:p>
          <a:p>
            <a:pPr marL="342900" indent="-342900"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 Managers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To track key performance indicators (KPIs), optimize processes, and enhance overall efficiency.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09600" y="1066800"/>
            <a:ext cx="9763125" cy="575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spc="10" dirty="0"/>
              <a:t>O</a:t>
            </a:r>
            <a:r>
              <a:rPr sz="3600" spc="25" dirty="0"/>
              <a:t>U</a:t>
            </a:r>
            <a:r>
              <a:rPr sz="3600" dirty="0"/>
              <a:t>R</a:t>
            </a:r>
            <a:r>
              <a:rPr sz="3600" spc="5" dirty="0"/>
              <a:t> </a:t>
            </a:r>
            <a:r>
              <a:rPr sz="3600" spc="25" dirty="0"/>
              <a:t>S</a:t>
            </a:r>
            <a:r>
              <a:rPr sz="3600" spc="10" dirty="0"/>
              <a:t>O</a:t>
            </a:r>
            <a:r>
              <a:rPr sz="3600" spc="25" dirty="0"/>
              <a:t>LU</a:t>
            </a:r>
            <a:r>
              <a:rPr sz="3600" spc="-35" dirty="0"/>
              <a:t>T</a:t>
            </a:r>
            <a:r>
              <a:rPr sz="3600" spc="-30" dirty="0"/>
              <a:t>I</a:t>
            </a:r>
            <a:r>
              <a:rPr sz="3600" spc="10" dirty="0"/>
              <a:t>O</a:t>
            </a:r>
            <a:r>
              <a:rPr sz="3600" dirty="0"/>
              <a:t>N</a:t>
            </a:r>
            <a:r>
              <a:rPr sz="3600" spc="-345" dirty="0"/>
              <a:t> </a:t>
            </a:r>
            <a:r>
              <a:rPr sz="3600" spc="-35" dirty="0"/>
              <a:t>A</a:t>
            </a:r>
            <a:r>
              <a:rPr sz="3600" spc="-5" dirty="0"/>
              <a:t>N</a:t>
            </a:r>
            <a:r>
              <a:rPr sz="3600" dirty="0"/>
              <a:t>D</a:t>
            </a:r>
            <a:r>
              <a:rPr sz="3600" spc="35" dirty="0"/>
              <a:t> </a:t>
            </a:r>
            <a:r>
              <a:rPr sz="3600" spc="-30" dirty="0"/>
              <a:t>I</a:t>
            </a:r>
            <a:r>
              <a:rPr sz="3600" spc="-35" dirty="0"/>
              <a:t>T</a:t>
            </a:r>
            <a:r>
              <a:rPr sz="3600" dirty="0"/>
              <a:t>S</a:t>
            </a:r>
            <a:r>
              <a:rPr sz="3600" spc="60" dirty="0"/>
              <a:t> </a:t>
            </a:r>
            <a:r>
              <a:rPr sz="3600" spc="-295" dirty="0"/>
              <a:t>V</a:t>
            </a:r>
            <a:r>
              <a:rPr sz="3600" spc="-35" dirty="0"/>
              <a:t>A</a:t>
            </a:r>
            <a:r>
              <a:rPr sz="3600" spc="25" dirty="0"/>
              <a:t>LU</a:t>
            </a:r>
            <a:r>
              <a:rPr sz="3600" dirty="0"/>
              <a:t>E</a:t>
            </a:r>
            <a:r>
              <a:rPr sz="3600" spc="-65" dirty="0"/>
              <a:t> </a:t>
            </a:r>
            <a:r>
              <a:rPr sz="3600" spc="-15" dirty="0"/>
              <a:t>P</a:t>
            </a:r>
            <a:r>
              <a:rPr sz="3600" spc="-30" dirty="0"/>
              <a:t>R</a:t>
            </a:r>
            <a:r>
              <a:rPr sz="3600" spc="10" dirty="0"/>
              <a:t>O</a:t>
            </a:r>
            <a:r>
              <a:rPr sz="3600" spc="-15" dirty="0"/>
              <a:t>P</a:t>
            </a:r>
            <a:r>
              <a:rPr sz="3600" spc="10" dirty="0"/>
              <a:t>O</a:t>
            </a:r>
            <a:r>
              <a:rPr sz="3600" spc="25" dirty="0"/>
              <a:t>S</a:t>
            </a:r>
            <a:r>
              <a:rPr sz="3600" spc="-30" dirty="0"/>
              <a:t>I</a:t>
            </a:r>
            <a:r>
              <a:rPr sz="3600" spc="-35" dirty="0"/>
              <a:t>T</a:t>
            </a:r>
            <a:r>
              <a:rPr sz="3600" spc="-30" dirty="0"/>
              <a:t>I</a:t>
            </a:r>
            <a:r>
              <a:rPr sz="3600" spc="10" dirty="0"/>
              <a:t>O</a:t>
            </a:r>
            <a:r>
              <a:rPr sz="3600" dirty="0"/>
              <a:t>N</a:t>
            </a: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275" y="6467475"/>
            <a:ext cx="2143125" cy="2000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pc="10" dirty="0"/>
              <a:t>7</a:t>
            </a:fld>
            <a:endParaRPr spc="10" dirty="0"/>
          </a:p>
        </p:txBody>
      </p:sp>
      <p:sp>
        <p:nvSpPr>
          <p:cNvPr id="2" name="Rectangle 1"/>
          <p:cNvSpPr/>
          <p:nvPr/>
        </p:nvSpPr>
        <p:spPr>
          <a:xfrm>
            <a:off x="1371600" y="2514600"/>
            <a:ext cx="76200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FORMATTING – MISSING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FILTER- REMOVE</a:t>
            </a:r>
          </a:p>
          <a:p>
            <a:pPr marL="457200" indent="-457200" algn="just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FORMULA- PERFORMANCE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PIVOT-SUMMARY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GRAPH-DATA VISUALIZATION	</a:t>
            </a:r>
            <a:r>
              <a:rPr lang="en-GB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195E-16D6-79D8-7A9F-F8EB1FE9E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981200" y="1905000"/>
            <a:ext cx="5668475" cy="39703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Employee= </a:t>
            </a:r>
            <a:r>
              <a:rPr lang="en-GB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KAGGLE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26-Features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9-Features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Id- Number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Text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</a:t>
            </a: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Type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Employee Rating- Number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Gender- Male Female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Rating –Number</a:t>
            </a:r>
          </a:p>
        </p:txBody>
      </p:sp>
    </p:spTree>
    <p:extLst>
      <p:ext uri="{BB962C8B-B14F-4D97-AF65-F5344CB8AC3E}">
        <p14:creationId xmlns:p14="http://schemas.microsoft.com/office/powerpoint/2010/main" val="272066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5416" y="6512256"/>
            <a:ext cx="1773555" cy="16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75"/>
              </a:lnSpc>
            </a:pPr>
            <a:r>
              <a:rPr sz="1100" spc="20" dirty="0">
                <a:solidFill>
                  <a:srgbClr val="2D83C3"/>
                </a:solidFill>
                <a:latin typeface="Trebuchet MS"/>
                <a:cs typeface="Trebuchet MS"/>
              </a:rPr>
              <a:t>3/21/202</a:t>
            </a:r>
            <a:r>
              <a:rPr sz="1100" spc="10" dirty="0">
                <a:solidFill>
                  <a:srgbClr val="2D83C3"/>
                </a:solidFill>
                <a:latin typeface="Trebuchet MS"/>
                <a:cs typeface="Trebuchet MS"/>
              </a:rPr>
              <a:t>4</a:t>
            </a:r>
            <a:r>
              <a:rPr sz="110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spc="13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spc="50" dirty="0">
                <a:solidFill>
                  <a:srgbClr val="2D83C3"/>
                </a:solidFill>
                <a:latin typeface="Trebuchet MS"/>
                <a:cs typeface="Trebuchet MS"/>
              </a:rPr>
              <a:t>A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nnu</a:t>
            </a:r>
            <a:r>
              <a:rPr sz="1100" b="1" spc="10" dirty="0">
                <a:solidFill>
                  <a:srgbClr val="2D83C3"/>
                </a:solidFill>
                <a:latin typeface="Trebuchet MS"/>
                <a:cs typeface="Trebuchet MS"/>
              </a:rPr>
              <a:t>al</a:t>
            </a:r>
            <a:r>
              <a:rPr sz="1100" b="1" spc="-140" dirty="0">
                <a:solidFill>
                  <a:srgbClr val="2D83C3"/>
                </a:solidFill>
                <a:latin typeface="Trebuchet MS"/>
                <a:cs typeface="Trebuchet MS"/>
              </a:rPr>
              <a:t> </a:t>
            </a:r>
            <a:r>
              <a:rPr sz="1100" b="1" dirty="0">
                <a:solidFill>
                  <a:srgbClr val="2D83C3"/>
                </a:solidFill>
                <a:latin typeface="Trebuchet MS"/>
                <a:cs typeface="Trebuchet MS"/>
              </a:rPr>
              <a:t>R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90" dirty="0">
                <a:solidFill>
                  <a:srgbClr val="2D83C3"/>
                </a:solidFill>
                <a:latin typeface="Trebuchet MS"/>
                <a:cs typeface="Trebuchet MS"/>
              </a:rPr>
              <a:t>v</a:t>
            </a:r>
            <a:r>
              <a:rPr sz="1100" b="1" spc="-35" dirty="0">
                <a:solidFill>
                  <a:srgbClr val="2D83C3"/>
                </a:solidFill>
                <a:latin typeface="Trebuchet MS"/>
                <a:cs typeface="Trebuchet MS"/>
              </a:rPr>
              <a:t>i</a:t>
            </a:r>
            <a:r>
              <a:rPr sz="1100" b="1" spc="35" dirty="0">
                <a:solidFill>
                  <a:srgbClr val="2D83C3"/>
                </a:solidFill>
                <a:latin typeface="Trebuchet MS"/>
                <a:cs typeface="Trebuchet MS"/>
              </a:rPr>
              <a:t>e</a:t>
            </a:r>
            <a:r>
              <a:rPr sz="1100" b="1" spc="15" dirty="0">
                <a:solidFill>
                  <a:srgbClr val="2D83C3"/>
                </a:solidFill>
                <a:latin typeface="Trebuchet MS"/>
                <a:cs typeface="Trebuchet MS"/>
              </a:rPr>
              <a:t>w</a:t>
            </a:r>
            <a:endParaRPr sz="11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9306491" y="5388794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49016" y="1721669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06491" y="5922194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616" y="3733800"/>
            <a:ext cx="2466975" cy="3093267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92716" y="681157"/>
            <a:ext cx="8480425" cy="670696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4250" spc="15" dirty="0"/>
              <a:t>THE</a:t>
            </a:r>
            <a:r>
              <a:rPr sz="4250" spc="20" dirty="0"/>
              <a:t> </a:t>
            </a:r>
            <a:r>
              <a:rPr lang="en-US" sz="4250" spc="20" dirty="0"/>
              <a:t>"</a:t>
            </a:r>
            <a:r>
              <a:rPr sz="4250" spc="10" dirty="0"/>
              <a:t>WOW</a:t>
            </a:r>
            <a:r>
              <a:rPr lang="en-US" sz="4250" spc="10" dirty="0"/>
              <a:t>"</a:t>
            </a:r>
            <a:r>
              <a:rPr sz="4250" spc="85" dirty="0"/>
              <a:t> </a:t>
            </a:r>
            <a:r>
              <a:rPr sz="4250" spc="10" dirty="0"/>
              <a:t>IN</a:t>
            </a:r>
            <a:r>
              <a:rPr sz="4250" spc="-5" dirty="0"/>
              <a:t> </a:t>
            </a:r>
            <a:r>
              <a:rPr sz="4250" spc="15" dirty="0"/>
              <a:t>OUR</a:t>
            </a:r>
            <a:r>
              <a:rPr sz="4250" spc="-10" dirty="0"/>
              <a:t> </a:t>
            </a:r>
            <a:r>
              <a:rPr sz="4250" spc="20" dirty="0"/>
              <a:t>SOLUTION</a:t>
            </a:r>
            <a:endParaRPr sz="4250" dirty="0"/>
          </a:p>
        </p:txBody>
      </p:sp>
      <p:sp>
        <p:nvSpPr>
          <p:cNvPr id="8" name="object 8"/>
          <p:cNvSpPr txBox="1"/>
          <p:nvPr/>
        </p:nvSpPr>
        <p:spPr>
          <a:xfrm>
            <a:off x="11230159" y="6499556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9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D9CEB2-36E1-0550-426B-2FAF97882044}"/>
              </a:ext>
            </a:extLst>
          </p:cNvPr>
          <p:cNvSpPr txBox="1"/>
          <p:nvPr/>
        </p:nvSpPr>
        <p:spPr>
          <a:xfrm>
            <a:off x="1592193" y="2482672"/>
            <a:ext cx="74756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GB" sz="3200" b="1" u="sng" dirty="0">
                <a:cs typeface="Times New Roman" panose="02020603050405020304" pitchFamily="18" charset="0"/>
              </a:rPr>
              <a:t>=</a:t>
            </a:r>
            <a:r>
              <a:rPr lang="en-GB" sz="2000" b="1" u="sng" dirty="0">
                <a:cs typeface="Times New Roman" panose="02020603050405020304" pitchFamily="18" charset="0"/>
              </a:rPr>
              <a:t>IFS(Z8&gt;=5,”VERY HIGH”,Z8&gt;=4,”HIGH”,Z8&gt;=3,”MED”,TRUE,”LOW”)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10</a:t>
            </a:fld>
            <a:endParaRPr sz="1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9775" y="291147"/>
            <a:ext cx="3303904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800" b="1" spc="15" dirty="0">
                <a:latin typeface="Trebuchet MS"/>
                <a:cs typeface="Trebuchet MS"/>
              </a:rPr>
              <a:t>M</a:t>
            </a:r>
            <a:r>
              <a:rPr sz="4800" b="1" dirty="0">
                <a:latin typeface="Trebuchet MS"/>
                <a:cs typeface="Trebuchet MS"/>
              </a:rPr>
              <a:t>O</a:t>
            </a:r>
            <a:r>
              <a:rPr sz="4800" b="1" spc="-15" dirty="0">
                <a:latin typeface="Trebuchet MS"/>
                <a:cs typeface="Trebuchet MS"/>
              </a:rPr>
              <a:t>D</a:t>
            </a:r>
            <a:r>
              <a:rPr sz="4800" b="1" spc="-35" dirty="0">
                <a:latin typeface="Trebuchet MS"/>
                <a:cs typeface="Trebuchet MS"/>
              </a:rPr>
              <a:t>E</a:t>
            </a:r>
            <a:r>
              <a:rPr sz="4800" b="1" spc="-30" dirty="0">
                <a:latin typeface="Trebuchet MS"/>
                <a:cs typeface="Trebuchet MS"/>
              </a:rPr>
              <a:t>LL</a:t>
            </a:r>
            <a:r>
              <a:rPr sz="4800" b="1" spc="-5" dirty="0">
                <a:latin typeface="Trebuchet MS"/>
                <a:cs typeface="Trebuchet MS"/>
              </a:rPr>
              <a:t>I</a:t>
            </a:r>
            <a:r>
              <a:rPr sz="4800" b="1" spc="30" dirty="0">
                <a:latin typeface="Trebuchet MS"/>
                <a:cs typeface="Trebuchet MS"/>
              </a:rPr>
              <a:t>N</a:t>
            </a:r>
            <a:r>
              <a:rPr sz="4800" b="1" spc="5" dirty="0">
                <a:latin typeface="Trebuchet MS"/>
                <a:cs typeface="Trebuchet MS"/>
              </a:rPr>
              <a:t>G</a:t>
            </a:r>
            <a:endParaRPr sz="4800" dirty="0">
              <a:latin typeface="Trebuchet MS"/>
              <a:cs typeface="Trebuchet MS"/>
            </a:endParaRPr>
          </a:p>
        </p:txBody>
      </p:sp>
      <p:sp>
        <p:nvSpPr>
          <p:cNvPr id="14" name="object 3"/>
          <p:cNvSpPr/>
          <p:nvPr/>
        </p:nvSpPr>
        <p:spPr>
          <a:xfrm>
            <a:off x="10058400" y="52514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Rectangle 1"/>
          <p:cNvSpPr/>
          <p:nvPr/>
        </p:nvSpPr>
        <p:spPr>
          <a:xfrm>
            <a:off x="752475" y="1752600"/>
            <a:ext cx="6334125" cy="43396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/>
              <a:t>Data Preparation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Import and clean employee data (e.g., demographics, job info, performance metrics)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Ensure data quality and </a:t>
            </a:r>
            <a:r>
              <a:rPr lang="en-IN" dirty="0" err="1"/>
              <a:t>consistencyII</a:t>
            </a:r>
            <a:r>
              <a:rPr lang="en-IN" dirty="0"/>
              <a:t>. </a:t>
            </a:r>
          </a:p>
          <a:p>
            <a:r>
              <a:rPr lang="en-IN" sz="2000" b="1" dirty="0"/>
              <a:t>Descriptive Analytic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Create summaries and visualizations (e.g., tables, charts, graphs) to understand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Employee demographics (e.g., age, gender, department)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Job characteristics (e.g., role, tenure, salary)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Employee Rating </a:t>
            </a:r>
            <a:r>
              <a:rPr lang="en-IN" dirty="0"/>
              <a:t>(e.g., ratings, promotions, turnover)</a:t>
            </a:r>
          </a:p>
          <a:p>
            <a:r>
              <a:rPr lang="en-IN" sz="2000" b="1" dirty="0"/>
              <a:t>Inferential Analytics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Correlation analysis (e.g., between performance and salary)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Regression analysis (e.g., predicting turnover based on demographics)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/>
              <a:t>Cluster analysis (e.g., grouping similar employees)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</a:t>
            </a:r>
            <a:r>
              <a:rPr lang="en-IN" spc="-40" dirty="0"/>
              <a:t>E</a:t>
            </a:r>
            <a:r>
              <a:rPr lang="en-IN" spc="15" dirty="0"/>
              <a:t>S</a:t>
            </a:r>
            <a:r>
              <a:rPr lang="en-IN" spc="-30" dirty="0"/>
              <a:t>U</a:t>
            </a:r>
            <a:r>
              <a:rPr lang="en-IN" spc="-405" dirty="0"/>
              <a:t>L</a:t>
            </a:r>
            <a:r>
              <a:rPr lang="en-IN" dirty="0"/>
              <a:t>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55332" y="1626274"/>
            <a:ext cx="7093268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Prescriptive Analytics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Talent development and training programs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Diversity, equity, and inclusion initiatives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and benefits strategies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engagement and retention plan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PivotTables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PivotTables and Power Pivot for data summarization and analysis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 Formatting and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Scales for data visualization-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and Correlation analysis using Excel's built-in functions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Solver and Scenario Manager for optimization and forecasting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2748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9353550" y="53625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915400" y="462568"/>
            <a:ext cx="314325" cy="323850"/>
          </a:xfrm>
          <a:custGeom>
            <a:avLst/>
            <a:gdLst/>
            <a:ahLst/>
            <a:cxnLst/>
            <a:rect l="l" t="t" r="r" b="b"/>
            <a:pathLst>
              <a:path w="314325" h="323850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53550" y="5895975"/>
            <a:ext cx="180975" cy="180975"/>
          </a:xfrm>
          <a:custGeom>
            <a:avLst/>
            <a:gdLst/>
            <a:ahLst/>
            <a:cxnLst/>
            <a:rect l="l" t="t" r="r" b="b"/>
            <a:pathLst>
              <a:path w="180975" h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66875" y="6467475"/>
            <a:ext cx="76200" cy="177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55332" y="385444"/>
            <a:ext cx="2437130" cy="758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</a:t>
            </a:r>
            <a:r>
              <a:rPr spc="-40" dirty="0"/>
              <a:t>E</a:t>
            </a:r>
            <a:r>
              <a:rPr spc="15" dirty="0"/>
              <a:t>S</a:t>
            </a:r>
            <a:r>
              <a:rPr spc="-30" dirty="0"/>
              <a:t>U</a:t>
            </a:r>
            <a:r>
              <a:rPr spc="-405" dirty="0"/>
              <a:t>L</a:t>
            </a:r>
            <a:r>
              <a:rPr dirty="0"/>
              <a:t>TS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277218" y="6473337"/>
            <a:ext cx="228600" cy="19177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5"/>
              </a:spcBef>
            </a:pPr>
            <a:fld id="{81D60167-4931-47E6-BA6A-407CBD079E47}" type="slidenum">
              <a:rPr sz="1100" spc="10" dirty="0">
                <a:solidFill>
                  <a:srgbClr val="2D936B"/>
                </a:solidFill>
                <a:latin typeface="Trebuchet MS"/>
                <a:cs typeface="Trebuchet MS"/>
              </a:rPr>
              <a:t>12</a:t>
            </a:fld>
            <a:endParaRPr sz="1100">
              <a:latin typeface="Trebuchet MS"/>
              <a:cs typeface="Trebuchet MS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1685380"/>
            <a:ext cx="7382905" cy="39057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332" y="385444"/>
            <a:ext cx="10681335" cy="738664"/>
          </a:xfrm>
        </p:spPr>
        <p:txBody>
          <a:bodyPr/>
          <a:lstStyle/>
          <a:p>
            <a:r>
              <a:rPr lang="en-IN" dirty="0"/>
              <a:t>R</a:t>
            </a:r>
            <a:r>
              <a:rPr lang="en-IN" spc="-40" dirty="0"/>
              <a:t>E</a:t>
            </a:r>
            <a:r>
              <a:rPr lang="en-IN" spc="15" dirty="0"/>
              <a:t>S</a:t>
            </a:r>
            <a:r>
              <a:rPr lang="en-IN" spc="-30" dirty="0"/>
              <a:t>U</a:t>
            </a:r>
            <a:r>
              <a:rPr lang="en-IN" spc="-405" dirty="0"/>
              <a:t>L</a:t>
            </a:r>
            <a:r>
              <a:rPr lang="en-IN" dirty="0"/>
              <a:t>TS</a:t>
            </a:r>
          </a:p>
        </p:txBody>
      </p:sp>
      <p:graphicFrame>
        <p:nvGraphicFramePr>
          <p:cNvPr id="4" name="Chart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62693060"/>
              </p:ext>
            </p:extLst>
          </p:nvPr>
        </p:nvGraphicFramePr>
        <p:xfrm>
          <a:off x="1295400" y="1295400"/>
          <a:ext cx="6843713" cy="5467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166816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5CB5B-BDD0-5A64-1A7C-37D3C88F8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0600" y="1676400"/>
            <a:ext cx="6096000" cy="397031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We have identified trends, patterns, and correlations that will inform our decision-making and drive business outcomes. Specifically, we have</a:t>
            </a: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Identified areas of high employee turnover and absenteeism, allowing us to target retention strategies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Analysed salary and benefits data to ensure equity and competitiveness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Visualized employee performance metrics to inform development and promotion decisions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Detected correlations between training programs and job satisfaction, highlighting areas for investment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GB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Created data-driven recommendations to enhance employee engagement, productivity, and overall business performance</a:t>
            </a:r>
            <a:endParaRPr lang="en-I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6" name="Picture 12" descr="See related image detail. Curriculum - Free people ic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828800"/>
            <a:ext cx="1933575" cy="1933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644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494</TotalTime>
  <Words>631</Words>
  <Application>Microsoft Office PowerPoint</Application>
  <PresentationFormat>Widescreen</PresentationFormat>
  <Paragraphs>105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Stencil</vt:lpstr>
      <vt:lpstr>Times New Roman</vt:lpstr>
      <vt:lpstr>Trebuchet MS</vt:lpstr>
      <vt:lpstr>Wingdings</vt:lpstr>
      <vt:lpstr>Office Theme</vt:lpstr>
      <vt:lpstr>Employee Data Analysis using Excel </vt:lpstr>
      <vt:lpstr>PROJECT TITLE</vt:lpstr>
      <vt:lpstr>AGENDA</vt:lpstr>
      <vt:lpstr>PROBLEM STATEMENT</vt:lpstr>
      <vt:lpstr>PROJECT OVERVIEW</vt:lpstr>
      <vt:lpstr>WHO ARE THE END USERS?</vt:lpstr>
      <vt:lpstr>OUR SOLUTION AND ITS VALUE PROPOSITION</vt:lpstr>
      <vt:lpstr>Dataset Description</vt:lpstr>
      <vt:lpstr>THE "WOW" IN OUR SOLUTION</vt:lpstr>
      <vt:lpstr>PowerPoint Presentation</vt:lpstr>
      <vt:lpstr>RESULTS</vt:lpstr>
      <vt:lpstr>RESULTS</vt:lpstr>
      <vt:lpstr>RESULTS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 Mask Detection using Convolutional Neural Network (CNN)</dc:title>
  <dc:creator>Konduru Narasimha</dc:creator>
  <cp:lastModifiedBy>Abinaya S</cp:lastModifiedBy>
  <cp:revision>56</cp:revision>
  <dcterms:created xsi:type="dcterms:W3CDTF">2024-03-29T15:07:22Z</dcterms:created>
  <dcterms:modified xsi:type="dcterms:W3CDTF">2024-09-03T08:50:43Z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2024-03-21T00:00:00Z</vt:filetime>
  </property>
  <property fmtid="{D5CDD505-2E9C-101B-9397-08002B2CF9AE}" pid="3" name="LastSaved">
    <vt:filetime>2024-03-29T00:00:00Z</vt:filetime>
  </property>
</Properties>
</file>